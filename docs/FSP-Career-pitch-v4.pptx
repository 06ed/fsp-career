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402FFF"/>
                </a:solidFill>
                <a:latin typeface="JetBrains Mono"/>
              </a:defRPr>
            </a:pPr>
            <a:r>
              <a:t>ПЛАТФОРМА / ФСП КАРЬЕРА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402FFF"/>
                </a:solidFill>
                <a:latin typeface="JetBrains Mono"/>
              </a:defRPr>
            </a:pPr>
            <a:r>
              <a:t>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234440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4800" b="1">
                <a:solidFill>
                  <a:srgbClr val="1B1C21"/>
                </a:solidFill>
                <a:latin typeface="Arial"/>
              </a:defRPr>
            </a:pPr>
            <a:r>
              <a:t>КАРЬЕРА,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4800" b="1">
                <a:solidFill>
                  <a:srgbClr val="1B1C21"/>
                </a:solidFill>
                <a:latin typeface="Arial"/>
              </a:defRPr>
            </a:pPr>
            <a:r>
              <a:t>ПОДТВЕРЖДЁННАЯ ДЕЛОМ.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4133087"/>
            <a:ext cx="7132320" cy="3200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0">
                <a:solidFill>
                  <a:srgbClr val="402FFF"/>
                </a:solidFill>
                <a:latin typeface="Arial"/>
              </a:defRPr>
            </a:pPr>
            <a:r>
              <a:t>Кандидат проходит оценку → получает категорию → работодатель видит обоснованный подбор → отправляет приглашение.</a:t>
            </a:r>
          </a:p>
        </p:txBody>
      </p:sp>
      <p:sp>
        <p:nvSpPr>
          <p:cNvPr id="9" name="Oval 8"/>
          <p:cNvSpPr/>
          <p:nvPr/>
        </p:nvSpPr>
        <p:spPr>
          <a:xfrm>
            <a:off x="10442448" y="4709160"/>
            <a:ext cx="868680" cy="868680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402FFF"/>
                </a:solidFill>
                <a:latin typeface="JetBrains Mono"/>
              </a:defRPr>
            </a:pPr>
            <a:r>
              <a:t>01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402FFF"/>
                </a:solidFill>
                <a:latin typeface="JetBrains Mono"/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61288"/>
            <a:ext cx="105156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4000" b="1">
                <a:solidFill>
                  <a:srgbClr val="1B1C21"/>
                </a:solidFill>
                <a:latin typeface="Arial"/>
              </a:defRPr>
            </a:pPr>
            <a:r>
              <a:t>Резюме говорит. Навыки — доказывают.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42616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487168"/>
            <a:ext cx="10332719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0">
                <a:solidFill>
                  <a:srgbClr val="1B1C21"/>
                </a:solidFill>
                <a:latin typeface="Arial"/>
              </a:defRPr>
            </a:pPr>
            <a:r>
              <a:t>Самоописание в резюме не равно подтверждённой квалификации.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75888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520440"/>
            <a:ext cx="10332719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0">
                <a:solidFill>
                  <a:srgbClr val="1B1C21"/>
                </a:solidFill>
                <a:latin typeface="Arial"/>
              </a:defRPr>
            </a:pPr>
            <a:r>
              <a:t>Поиск по словам теряет сильных специалистов и перегружает команды.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709160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553712"/>
            <a:ext cx="10332719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0">
                <a:solidFill>
                  <a:srgbClr val="1B1C21"/>
                </a:solidFill>
                <a:latin typeface="Arial"/>
              </a:defRPr>
            </a:pPr>
            <a:r>
              <a:t>Контактные данные и условия предложения требуют доверия и контроля.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EDEDED"/>
                </a:solidFill>
                <a:latin typeface="JetBrains Mono"/>
              </a:defRPr>
            </a:pPr>
            <a:r>
              <a:t>02 / МЕХАНИКА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DEDED"/>
                </a:solidFill>
                <a:latin typeface="JetBrains Mono"/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ДВА ПУТИ. ОДИН ПОНЯТНЫЙ МЭТЧ.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83280" cy="3200400"/>
          </a:xfrm>
          <a:prstGeom prst="rect">
            <a:avLst/>
          </a:prstGeom>
          <a:solidFill>
            <a:srgbClr val="2B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60604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A9A2FF"/>
                </a:solidFill>
                <a:latin typeface="JetBrains Mono"/>
              </a:defRPr>
            </a:pPr>
            <a:r>
              <a:t>01  СПЕЦИАЛИСТ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401568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Профиль, специализация и тест. Категория определяется результатом оценки, не заявленным грейдом.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331720"/>
            <a:ext cx="3383280" cy="3200400"/>
          </a:xfrm>
          <a:prstGeom prst="rect">
            <a:avLst/>
          </a:prstGeom>
          <a:solidFill>
            <a:srgbClr val="2B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60604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A9A2FF"/>
                </a:solidFill>
                <a:latin typeface="JetBrains Mono"/>
              </a:defRPr>
            </a:pPr>
            <a:r>
              <a:t>02  РАБОТОДАТЕЛЬ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401568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Потребность команды, категория и ранжированный список с объяснением каждого совпадения.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331720"/>
            <a:ext cx="3383280" cy="3200400"/>
          </a:xfrm>
          <a:prstGeom prst="rect">
            <a:avLst/>
          </a:prstGeom>
          <a:solidFill>
            <a:srgbClr val="2B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60604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A9A2FF"/>
                </a:solidFill>
                <a:latin typeface="JetBrains Mono"/>
              </a:defRPr>
            </a:pPr>
            <a:r>
              <a:t>03  КОНТАКТ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3401568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Приглашение с диапазоном зарплаты в рублях. Контакты — только после принятия кандидатом.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402FFF"/>
                </a:solidFill>
                <a:latin typeface="JetBrains Mono"/>
              </a:defRPr>
            </a:pPr>
            <a:r>
              <a:t>03 / ПРАВИЛА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402FFF"/>
                </a:solidFill>
                <a:latin typeface="JetBrains Mono"/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24712"/>
            <a:ext cx="106984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4000" b="1">
                <a:solidFill>
                  <a:srgbClr val="1B1C21"/>
                </a:solidFill>
                <a:latin typeface="Arial"/>
              </a:defRPr>
            </a:pPr>
            <a:r>
              <a:t>Проверяемое ядро прототипа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04288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148840"/>
            <a:ext cx="103327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Грейд не понижается принудительно; повторная попытка ограничена 90 днями.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36976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081528"/>
            <a:ext cx="103327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Счёт матча: оценка + подтверждённые записи достижений (≤20) + совпадение отрасли (+5).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69664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014216"/>
            <a:ext cx="103327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Публикация добровольна; до принятия приглашения контакты скрыты на уровне API.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102352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946904"/>
            <a:ext cx="103327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ФСП ID и официальная проверка достижений пока не интегрированы.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EDEDED"/>
                </a:solidFill>
                <a:latin typeface="JetBrains Mono"/>
              </a:defRPr>
            </a:pPr>
            <a:r>
              <a:t>04 /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DEDED"/>
                </a:solidFill>
                <a:latin typeface="JetBrains Mono"/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Простая и прозрачная архитектура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04288"/>
            <a:ext cx="3429000" cy="2889504"/>
          </a:xfrm>
          <a:prstGeom prst="rect">
            <a:avLst/>
          </a:prstGeom>
          <a:solidFill>
            <a:srgbClr val="2B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SVELTEKIT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TypeScript · StyleX · GSAP · Bun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Docker · кабинет двух ролей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304288"/>
            <a:ext cx="3429000" cy="288950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5786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KTOR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33756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Kotlin · JWT · OpenAPI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Оценка, ранжирование,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304288"/>
            <a:ext cx="3429000" cy="2889504"/>
          </a:xfrm>
          <a:prstGeom prst="rect">
            <a:avLst/>
          </a:prstGeom>
          <a:solidFill>
            <a:srgbClr val="2B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786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3756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PostgreSQL · Flyway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Keycloak · локальный Mailpit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402FFF"/>
                </a:solidFill>
                <a:latin typeface="JetBrains Mono"/>
              </a:defRPr>
            </a:pPr>
            <a:r>
              <a:t>05 / ВАЛИДАЦИЯ — ЧЕСТНЫЙ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402FFF"/>
                </a:solidFill>
                <a:latin typeface="JetBrains Mono"/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5156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700" b="1">
                <a:solidFill>
                  <a:srgbClr val="1B1C21"/>
                </a:solidFill>
                <a:latin typeface="Arial"/>
              </a:defRPr>
            </a:pPr>
            <a:r>
              <a:t>Прототип ≠ валидированный инструмент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31136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075688"/>
            <a:ext cx="1033271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6 Docker-сервисов; 8 unit- и 1 DB-тест прошли; синтетический E2E через Keycloak пройден.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72968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017520"/>
            <a:ext cx="1033271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Текущий банк заданий ограничен: необходимы экспертная проверка и сопоставимость форм.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959352"/>
            <a:ext cx="1033271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До реального найма: дискриминативность, повторяемость грейда, top-k и оценка пар экспертами.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056631"/>
            <a:ext cx="109728" cy="109728"/>
          </a:xfrm>
          <a:prstGeom prst="ellipse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901183"/>
            <a:ext cx="1033271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1B1C21"/>
                </a:solidFill>
                <a:latin typeface="Arial"/>
              </a:defRPr>
            </a:pPr>
            <a:r>
              <a:t>Никаких заявлений о точности подбора без независимых измерений.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2004" cy="596188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EDEDED"/>
                </a:solidFill>
                <a:latin typeface="JetBrains Mono"/>
              </a:defRPr>
            </a:pPr>
            <a:r>
              <a:t>06 / ДЕМОНСТРАЦИЯ И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DEDED"/>
                </a:solidFill>
                <a:latin typeface="JetBrains Mono"/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8E8F96"/>
                </a:solidFill>
                <a:latin typeface="JetBrains Mono"/>
              </a:defRPr>
            </a:pPr>
            <a:r>
              <a:t>ФЕДЕРАЦИЯ СПОРТИВНОГО ПРОГРАММИРОВАНИЯ  ·  СИНТЕТИЧЕСКИЙ 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От профиля до принятого оффера.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JetBrains Mono"/>
              </a:defRPr>
            </a:pPr>
            <a:r>
              <a:t>01 Профиль  →  02 Тест  →  03 Категория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JetBrains Mono"/>
              </a:defRPr>
            </a:pPr>
            <a:r>
              <a:t>04 Подбор  →  05 Приглашение  →  06 Контакт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87952"/>
            <a:ext cx="10561320" cy="3200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1005840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200" b="0">
                <a:solidFill>
                  <a:srgbClr val="A9A2FF"/>
                </a:solidFill>
                <a:latin typeface="Arial"/>
              </a:defRPr>
            </a:pPr>
            <a:r>
              <a:t>Следующий этап: калибровка заданий, измеренная валидность, официальный коннектор ФСП ID и защищённое развёртывание.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