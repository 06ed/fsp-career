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262" r:id="rId21"/>
    <p:sldId id="267" r:id="rId26"/>
    <p:sldId id="268" r:id="rId25"/>
    <p:sldId id="371" r:id="rId17"/>
    <p:sldId id="372" r:id="rId14"/>
    <p:sldId id="260" r:id="rId19"/>
    <p:sldId id="374" r:id="rId18"/>
    <p:sldId id="270" r:id="rId28"/>
    <p:sldId id="370" r:id="rId16"/>
    <p:sldId id="376" r:id="rId45"/>
    <p:sldId id="377" r:id="rId46"/>
    <p:sldId id="378" r:id="rId47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4" Type="http://schemas.openxmlformats.org/officeDocument/2006/relationships/slide" Target="slides/slide10.xml"/><Relationship Id="rId16" Type="http://schemas.openxmlformats.org/officeDocument/2006/relationships/slide" Target="slides/slide14.xml"/><Relationship Id="rId17" Type="http://schemas.openxmlformats.org/officeDocument/2006/relationships/slide" Target="slides/slide9.xml"/><Relationship Id="rId18" Type="http://schemas.openxmlformats.org/officeDocument/2006/relationships/slide" Target="slides/slide12.xml"/><Relationship Id="rId19" Type="http://schemas.openxmlformats.org/officeDocument/2006/relationships/slide" Target="slides/slide11.xml"/><Relationship Id="rId21" Type="http://schemas.openxmlformats.org/officeDocument/2006/relationships/slide" Target="slides/slide6.xml"/><Relationship Id="rId25" Type="http://schemas.openxmlformats.org/officeDocument/2006/relationships/slide" Target="slides/slide8.xml"/><Relationship Id="rId26" Type="http://schemas.openxmlformats.org/officeDocument/2006/relationships/slide" Target="slides/slide7.xml"/><Relationship Id="rId28" Type="http://schemas.openxmlformats.org/officeDocument/2006/relationships/slide" Target="slides/slide13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5.xml"/><Relationship Id="rId46" Type="http://schemas.openxmlformats.org/officeDocument/2006/relationships/slide" Target="slides/slide16.xml"/><Relationship Id="rId47" Type="http://schemas.openxmlformats.org/officeDocument/2006/relationships/slide" Target="slides/slide1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02.10.2026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02.10.2026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02.10.2026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02.10.2026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b="1"/>
              <a:t>ФСП Карьера</a:t>
            </a:r>
          </a:p>
          <a:p>
            <a:pPr marL="268288" indent="0"/>
            <a:r>
              <a:rPr lang="ru-RU" b="0"/>
              <a:t>Команда «НАЗВАНИЕ КОМАНДЫ»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/>
            <a:r>
              <a:rPr lang="ru-RU" dirty="0"/>
              <a:t>Цифровая платформа-агрегатор ИТ-вакансий </a:t>
            </a:r>
            <a:br>
              <a:rPr lang="ru-RU" dirty="0"/>
            </a:br>
            <a:r>
              <a:rPr lang="ru-RU" dirty="0"/>
              <a:t>с верифицированным профилем достижений </a:t>
            </a:r>
            <a:br>
              <a:rPr lang="ru-RU" dirty="0"/>
            </a:br>
            <a:r>
              <a:rPr lang="ru-RU" dirty="0"/>
              <a:t>участника Федерации спортивного программирования (ФСП)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sz="1200">
                <a:solidFill>
                  <a:srgbClr val="1C1D22"/>
                </a:solidFill>
              </a:rPr>
              <a:t>Тест, который не «сливается»: у каждого свои задания одинаковой сложности (IRT). Объяснимое ранжирование по навыкам и достижениям ФСП с измеренным качеством.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ФИО, специальность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__ человек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как образовалась команда?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место работы/учебы участников?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>
                <a:solidFill>
                  <a:srgbClr val="310F53"/>
                </a:solidFill>
              </a:rPr>
              <a:t>ФСП Карьера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sz="1200">
                <a:solidFill>
                  <a:srgbClr val="1C1D22"/>
                </a:solidFill>
              </a:rPr>
              <a:t>Обратный подбор в ИТ: кандидат проходит опрос и адаптивный тест на свой грейд, работодатель находит подтверждённую категорию и сам приглашает человека с вилкой ₽.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/>
              <a:t>КОМАНДА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Роль в команде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Ник в мессенджере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Номер телефона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ru-RU"/>
              <a:t>КОМАНДА И ВЫЗОВЫ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[Заполнить: как собралась команда, прошлые хакатоны и проекты, интересные факты]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Тест, который нельзя «слить»: параметрические семейства заданий с IRT — у каждого свои экземпляры одинаковой сложности.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Нет данных ФСП и разметки: сменный коннектор с синтетическим реестром и собственная валидация с эталоном и базовыми линиями. Прод на ВМ 4 ГБ: поочерёдная сборка, лимиты JVM, swap.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Результаты соревнований ФСП — объективный сигнал навыков, который сегодня не доходит до работодателя. Хотели сделать подбор, где решает подтверждённая квалификация, а не ключевые слова в резюме.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300" dirty="0">
                <a:solidFill>
                  <a:schemeClr val="tx1"/>
                </a:solidFill>
              </a:rPr>
              <a:t>Kotlin/Ktor API + SvelteKit, PostgreSQL, Keycloak (совместим с ФСП ID), Docker и CI/CD на brokenbrain.online.</a:t>
            </a:r>
          </a:p>
          <a:p>
            <a:r>
              <a:rPr lang="ru-RU" sz="1300" dirty="0">
                <a:solidFill>
                  <a:schemeClr val="tx1"/>
                </a:solidFill>
              </a:rPr>
              <a:t>Адаптивный тест (IRT 2PL, EAP) из 76 семейств заданий, 59 — параметрические генераторы.</a:t>
            </a:r>
          </a:p>
          <a:p>
            <a:r>
              <a:rPr lang="ru-RU" sz="1300" dirty="0">
                <a:solidFill>
                  <a:schemeClr val="tx1"/>
                </a:solidFill>
              </a:rPr>
              <a:t>Ранжирование: тест + близость опыта к потребности (TF-IDF, русский стеммер) + стек + ФСП, с разбором факторов.</a:t>
            </a:r>
          </a:p>
          <a:p>
            <a:r>
              <a:rPr lang="ru-RU" sz="1300" dirty="0">
                <a:solidFill>
                  <a:schemeClr val="tx1"/>
                </a:solidFill>
              </a:rPr>
              <a:t>Валидация: точность грейда 78,6 % (было 27,2 %), nDCG@10 подбора 0,71 против 0,43 у ключевых слов.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300" dirty="0">
                <a:solidFill>
                  <a:schemeClr val="tx1"/>
                </a:solidFill>
              </a:rPr>
              <a:t>Работодатель не разбирает поток откликов — сразу видит категоризированных кандидатов и причину выбора.</a:t>
            </a:r>
          </a:p>
          <a:p>
            <a:r>
              <a:rPr lang="ru-RU" sz="1300" dirty="0">
                <a:solidFill>
                  <a:schemeClr val="tx1"/>
                </a:solidFill>
              </a:rPr>
              <a:t>Кандидат получает приглашения с вилкой до начала общения и не рассылает резюме вслепую.</a:t>
            </a:r>
          </a:p>
          <a:p>
            <a:r>
              <a:rPr lang="ru-RU" sz="1300" dirty="0">
                <a:solidFill>
                  <a:schemeClr val="tx1"/>
                </a:solidFill>
              </a:rPr>
              <a:t>Участник ФСП превращает спортивные достижения в карьерное преимущество.</a:t>
            </a:r>
          </a:p>
          <a:p>
            <a:r>
              <a:rPr lang="ru-RU" sz="1300" dirty="0">
                <a:solidFill>
                  <a:schemeClr val="tx1"/>
                </a:solidFill>
              </a:rPr>
              <a:t>Дальше: ФСП ID и реестр, ATS-интеграции, антифрод работодателей, пилот с участниками ФСП.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ru-RU" b="1" sz="1400">
                <a:solidFill>
                  <a:srgbClr val="1C1D22"/>
                </a:solidFill>
              </a:rPr>
              <a:t>Универсальные площадки исчерпали ресурс</a:t>
            </a:r>
          </a:p>
          <a:p>
            <a:pPr algn="l"/>
            <a:r>
              <a:rPr lang="ru-RU" sz="1400">
                <a:solidFill>
                  <a:srgbClr val="1C1D22"/>
                </a:solidFill>
              </a:rPr>
              <a:t>Работодатель силами дорогих специалистов фильтрует сотни нерелевантных откликов, кандидат откликается вслепую и не получает обратной связи.</a:t>
            </a:r>
          </a:p>
          <a:p>
            <a:pPr algn="l"/>
            <a:r>
              <a:rPr lang="ru-RU" sz="1400">
                <a:solidFill>
                  <a:srgbClr val="1C1D22"/>
                </a:solidFill>
              </a:rPr>
              <a:t>Резюме фиксирует стек и места работы, но не подтверждает компетентность — отбор сводится к совпадению ключевых слов.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sz="1400">
                <a:solidFill>
                  <a:srgbClr val="1C1D22"/>
                </a:solidFill>
              </a:rPr>
              <a:t>Самоописание в резюме ≠ подтверждённая квалификация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sz="1400">
                <a:solidFill>
                  <a:srgbClr val="1C1D22"/>
                </a:solidFill>
              </a:rPr>
              <a:t>Поиск по ключевым словам поощряет «накрутку» стека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sz="1400">
                <a:solidFill>
                  <a:srgbClr val="1C1D22"/>
                </a:solidFill>
              </a:rPr>
              <a:t>Условия и зарплата неизвестны до начала общения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sz="1400">
                <a:solidFill>
                  <a:srgbClr val="1C1D22"/>
                </a:solidFill>
              </a:rPr>
              <a:t>Контакты кандидата открыты всем площадкам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sz="1400">
                <a:solidFill>
                  <a:srgbClr val="1C1D22"/>
                </a:solidFill>
              </a:rPr>
              <a:t>Достижения в спортивном программировании не видны работодателю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ПРОБЛЕМА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 sz="1400">
                <a:solidFill>
                  <a:srgbClr val="310F53"/>
                </a:solidFill>
              </a:rPr>
              <a:t>Опрос и грейд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Отрасль, специализация, стаж; кандидат сам выбирает заявленный грейд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 sz="1400">
                <a:solidFill>
                  <a:srgbClr val="310F53"/>
                </a:solidFill>
              </a:rPr>
              <a:t>Категория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«Специализация · подтверждённый грейд» — её видит работодатель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 sz="1400">
                <a:solidFill>
                  <a:srgbClr val="310F53"/>
                </a:solidFill>
              </a:rPr>
              <a:t>Приглашение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Описание и вилка ₽; контакты — только после принятия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 sz="1400">
                <a:solidFill>
                  <a:srgbClr val="310F53"/>
                </a:solidFill>
              </a:rPr>
              <a:t>Адаптивный тест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12 уникальных заданий под заявленный грейд и, при желании, под вакансию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 sz="1400">
                <a:solidFill>
                  <a:srgbClr val="310F53"/>
                </a:solidFill>
              </a:rPr>
              <a:t>Подборка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Работодатель описывает потребность и получает рейтинг с объяснением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ОБРАТНЫЙ ПОДБОР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 sz="1300">
                <a:solidFill>
                  <a:srgbClr val="310F53"/>
                </a:solidFill>
              </a:rPr>
              <a:t>Семейства заданий</a:t>
            </a:r>
          </a:p>
          <a:p>
            <a:r>
              <a:rPr lang="ru-RU" sz="1300">
                <a:solidFill>
                  <a:srgbClr val="1C1D22"/>
                </a:solidFill>
              </a:rPr>
              <a:t>76 семейств «навык × калиброванная сложность». 59 — генераторы: у каждого свои числа, таблицы и код. Ключ ответа знает только сервер.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 sz="1300">
                <a:solidFill>
                  <a:srgbClr val="310F53"/>
                </a:solidFill>
              </a:rPr>
              <a:t>Адаптивный тест</a:t>
            </a:r>
          </a:p>
          <a:p>
            <a:r>
              <a:rPr lang="ru-RU" sz="1300">
                <a:solidFill>
                  <a:srgbClr val="1C1D22"/>
                </a:solidFill>
              </a:rPr>
              <a:t>Старт в якоре заявленного грейда, следующее задание — по максимуму информации, оценка уровня θ (IRT 2PL, EAP). 12 заданий, 30 минут.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 sz="1300">
                <a:solidFill>
                  <a:srgbClr val="310F53"/>
                </a:solidFill>
              </a:rPr>
              <a:t>Честные правила</a:t>
            </a:r>
          </a:p>
          <a:p>
            <a:r>
              <a:rPr lang="ru-RU" sz="1300">
                <a:solidFill>
                  <a:srgbClr val="1C1D22"/>
                </a:solidFill>
              </a:rPr>
              <a:t>Грейд не понижается. После неудачи — сразу тест ниже, после уверенного успеха — выше, повтор через 90 дней. План теста строится по тексту вакансии.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МЕХАНИКА ТЕСТА</a:t>
            </a:r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r>
              <a:rPr lang="ru-RU" b="1" sz="1300">
                <a:solidFill>
                  <a:srgbClr val="310F53"/>
                </a:solidFill>
              </a:rPr>
              <a:t>точность грейда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Против 27,2 % у прежнего теста из 5 вопросов. Завышение грейда — 6,5 % вместо 71,8 %.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r>
              <a:rPr lang="ru-RU" b="1" sz="1300">
                <a:solidFill>
                  <a:srgbClr val="310F53"/>
                </a:solidFill>
              </a:rPr>
              <a:t>стабильность при повторе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Взвешенная каппа на других экземплярах заданий (прежний тест — 0,17).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r>
              <a:rPr lang="ru-RU" b="1" sz="1300">
                <a:solidFill>
                  <a:srgbClr val="310F53"/>
                </a:solidFill>
              </a:rPr>
              <a:t>общих заданий у двух кандидатов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Было 68 %: ответы чужого теста почти бесполезны.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r>
              <a:rPr lang="ru-RU" b="1" sz="1300">
                <a:solidFill>
                  <a:srgbClr val="310F53"/>
                </a:solidFill>
              </a:rPr>
              <a:t>балла от утечки 1000 вопросов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Утечка старого банка давала 100 баллов и senior у всех.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КАЧЕСТВО ТЕСТА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2194560" cy="423628"/>
          </a:xfrm>
        </p:spPr>
        <p:txBody>
          <a:bodyPr/>
          <a:lstStyle/>
          <a:p>
            <a:r>
              <a:rPr lang="ru-RU" b="1" sz="2800">
                <a:solidFill>
                  <a:srgbClr val="FF0053"/>
                </a:solidFill>
              </a:rPr>
              <a:t>78,6 %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2194560" cy="403756"/>
          </a:xfrm>
        </p:spPr>
        <p:txBody>
          <a:bodyPr/>
          <a:lstStyle/>
          <a:p>
            <a:r>
              <a:rPr lang="ru-RU" b="1" sz="2800">
                <a:solidFill>
                  <a:srgbClr val="FF0053"/>
                </a:solidFill>
              </a:rPr>
              <a:t>0,71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2194560" cy="403913"/>
          </a:xfrm>
        </p:spPr>
        <p:txBody>
          <a:bodyPr/>
          <a:lstStyle/>
          <a:p>
            <a:r>
              <a:rPr lang="ru-RU" b="1" sz="2800">
                <a:solidFill>
                  <a:srgbClr val="FF0053"/>
                </a:solidFill>
              </a:rPr>
              <a:t>1,9 %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2194560" cy="423628"/>
          </a:xfrm>
        </p:spPr>
        <p:txBody>
          <a:bodyPr/>
          <a:lstStyle/>
          <a:p>
            <a:r>
              <a:rPr lang="ru-RU" b="1" sz="2800">
                <a:solidFill>
                  <a:srgbClr val="FF0053"/>
                </a:solidFill>
              </a:rPr>
              <a:t>+5,7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2636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1000">
                <a:solidFill>
                  <a:srgbClr val="FFFFFF"/>
                </a:solidFill>
              </a:rPr>
              <a:t>Синтетическое исследование: 10 000 кандидатов через production-движок, эталон — скрытый уровень. Отчёт: docs/validation/assessment-results.md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rPr lang="ru-RU"/>
              <a:t>ЗАДАНИЯ ИЗ ВАКАНСИИ</a:t>
            </a:r>
          </a:p>
        </p:txBody>
      </p:sp>
      <p:pic>
        <p:nvPicPr>
          <p:cNvPr id="22" name="Picture 21" descr="blueprint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81328"/>
            <a:ext cx="1106424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15961" y="1428777"/>
            <a:ext cx="3866856" cy="423628"/>
          </a:xfrm>
        </p:spPr>
        <p:txBody>
          <a:bodyPr/>
          <a:lstStyle/>
          <a:p>
            <a:r>
              <a:rPr lang="ru-RU" b="1" sz="1600">
                <a:solidFill>
                  <a:srgbClr val="FF0053"/>
                </a:solidFill>
              </a:rPr>
              <a:t>Тест · 30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5964" y="1996388"/>
            <a:ext cx="3866856" cy="672075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Нормированный балл адаптивного теста; грейд: точное совпадение ×1,0, выше ×0,85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96605" y="3032761"/>
            <a:ext cx="3866856" cy="403756"/>
          </a:xfrm>
        </p:spPr>
        <p:txBody>
          <a:bodyPr/>
          <a:lstStyle/>
          <a:p>
            <a:r>
              <a:rPr lang="ru-RU" b="1" sz="1600">
                <a:solidFill>
                  <a:srgbClr val="FF0053"/>
                </a:solidFill>
              </a:rPr>
              <a:t>Текст · 25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596605" y="3580500"/>
            <a:ext cx="3866856" cy="672075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TF-IDF-близость описания опыта к описанию потребности, русский стеммер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96605" y="4616873"/>
            <a:ext cx="3866856" cy="403913"/>
          </a:xfrm>
        </p:spPr>
        <p:txBody>
          <a:bodyPr/>
          <a:lstStyle/>
          <a:p>
            <a:r>
              <a:rPr lang="ru-RU" b="1" sz="1600">
                <a:solidFill>
                  <a:srgbClr val="FF0053"/>
                </a:solidFill>
              </a:rPr>
              <a:t>Стек · 20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96605" y="5164612"/>
            <a:ext cx="3866856" cy="672075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Подтверждён тестом 1,0; описан в опыте 0,8; только заявлен — до 0,5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89068" y="1428777"/>
            <a:ext cx="3866856" cy="423628"/>
          </a:xfrm>
        </p:spPr>
        <p:txBody>
          <a:bodyPr/>
          <a:lstStyle/>
          <a:p>
            <a:r>
              <a:rPr lang="ru-RU" b="1" sz="1600">
                <a:solidFill>
                  <a:srgbClr val="FF0053"/>
                </a:solidFill>
              </a:rPr>
              <a:t>ФСП · 15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89071" y="1996388"/>
            <a:ext cx="3866856" cy="672075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Уровень × место с учётом давности; без истории ФСП — 0, без штрафа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269712" y="3032761"/>
            <a:ext cx="3866856" cy="403756"/>
          </a:xfrm>
        </p:spPr>
        <p:txBody>
          <a:bodyPr/>
          <a:lstStyle/>
          <a:p>
            <a:r>
              <a:rPr lang="ru-RU" b="1" sz="1600">
                <a:solidFill>
                  <a:srgbClr val="FF0053"/>
                </a:solidFill>
              </a:rPr>
              <a:t>Отрасль · 5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69712" y="3580500"/>
            <a:ext cx="3866856" cy="672075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Совпадение по справочнику или упоминание в опыте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9712" y="4616873"/>
            <a:ext cx="3866856" cy="403913"/>
          </a:xfrm>
        </p:spPr>
        <p:txBody>
          <a:bodyPr/>
          <a:lstStyle/>
          <a:p>
            <a:r>
              <a:rPr lang="ru-RU" b="1" sz="1600">
                <a:solidFill>
                  <a:srgbClr val="FF0053"/>
                </a:solidFill>
              </a:rPr>
              <a:t>Актуальность · 5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269712" y="5164612"/>
            <a:ext cx="3866856" cy="672075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Свежесть профиля, тестов и ответов на регулярные задания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ФОРМУЛА ПОДБОРА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r>
              <a:rPr lang="ru-RU" b="1" sz="1500">
                <a:solidFill>
                  <a:srgbClr val="310F53"/>
                </a:solidFill>
              </a:rPr>
              <a:t>nDCG@10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Против 0,43 у поиска по ключевым словам и заявленному стеку (+0,28, 95 % ДИ 0,25–0,31).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r>
              <a:rPr lang="ru-RU" b="1" sz="1500">
                <a:solidFill>
                  <a:srgbClr val="310F53"/>
                </a:solidFill>
              </a:rPr>
              <a:t>релевантных в топ-10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Против 0,37. Тестовый набор пар «вакансия – кандидат»: 5 рынков × 24 вакансии.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r>
              <a:rPr lang="ru-RU" b="1" sz="1500">
                <a:solidFill>
                  <a:srgbClr val="310F53"/>
                </a:solidFill>
              </a:rPr>
              <a:t>«накрутчиков» в топ-10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Против 51 % у поиска по ключевым словам при доле в пуле 20 %.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 lang="ru-RU">
                <a:solidFill>
                  <a:srgbClr val="310F53"/>
                </a:solidFill>
              </a:rPr>
              <a:t>КАЧЕСТВО ПОДБОРА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2834640" cy="601141"/>
          </a:xfrm>
        </p:spPr>
        <p:txBody>
          <a:bodyPr/>
          <a:lstStyle/>
          <a:p>
            <a:r>
              <a:rPr lang="ru-RU" b="1" sz="3000">
                <a:solidFill>
                  <a:srgbClr val="FF0053"/>
                </a:solidFill>
              </a:rPr>
              <a:t>0,71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2834640" cy="572942"/>
          </a:xfrm>
        </p:spPr>
        <p:txBody>
          <a:bodyPr/>
          <a:lstStyle/>
          <a:p>
            <a:r>
              <a:rPr lang="ru-RU" b="1" sz="3000">
                <a:solidFill>
                  <a:srgbClr val="FF0053"/>
                </a:solidFill>
              </a:rPr>
              <a:t>0,62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2834640" cy="573165"/>
          </a:xfrm>
        </p:spPr>
        <p:txBody>
          <a:bodyPr/>
          <a:lstStyle/>
          <a:p>
            <a:r>
              <a:rPr lang="ru-RU" b="1" sz="3000">
                <a:solidFill>
                  <a:srgbClr val="FF0053"/>
                </a:solidFill>
              </a:rPr>
              <a:t>23 %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brokenbrain.online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/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/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brokenbrain.online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/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/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b="1" sz="1200">
                <a:solidFill>
                  <a:srgbClr val="1C1D22"/>
                </a:solidFill>
              </a:rPr>
              <a:t>Работодатель</a:t>
            </a:r>
          </a:p>
          <a:p>
            <a:r>
              <a:rPr lang="ru-RU" sz="1200">
                <a:solidFill>
                  <a:srgbClr val="1C1D22"/>
                </a:solidFill>
              </a:rPr>
              <a:t>Рекомендуемые категории и разбор «почему кандидат в подборке» по каждому фактору.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b="1" sz="1200">
                <a:solidFill>
                  <a:srgbClr val="1C1D22"/>
                </a:solidFill>
              </a:rPr>
              <a:t>Специалист</a:t>
            </a:r>
          </a:p>
          <a:p>
            <a:r>
              <a:rPr lang="ru-RU" sz="1200">
                <a:solidFill>
                  <a:srgbClr val="1C1D22"/>
                </a:solidFill>
              </a:rPr>
              <a:t>Приглашение с вилкой ₽ и способом связи; контакты откроются только после принятия.</a:t>
            </a:r>
          </a:p>
        </p:txBody>
      </p:sp>
      <p:pic>
        <p:nvPicPr>
          <p:cNvPr id="5" name="Рисунок 4" descr="matches-crop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136" r="136"/>
          <a:stretch>
            <a:fillRect/>
          </a:stretch>
        </p:blipFill>
        <p:spPr/>
      </p:pic>
      <p:pic>
        <p:nvPicPr>
          <p:cNvPr id="6" name="Рисунок 5" descr="invitation-crop.png"/>
          <p:cNvPicPr>
            <a:picLocks noGrp="1" noChangeAspect="1"/>
          </p:cNvPicPr>
          <p:nvPr>
            <p:ph type="pic" sz="quarter" idx="18"/>
          </p:nvPr>
        </p:nvPicPr>
        <p:blipFill>
          <a:blip r:embed="rId4"/>
          <a:srcRect l="51" r="51"/>
          <a:stretch>
            <a:fillRect/>
          </a:stretch>
        </p:blipFill>
        <p:spPr/>
      </p:pic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ПРОДУКТ</a:t>
            </a:r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r>
              <a:rPr lang="ru-RU">
                <a:solidFill>
                  <a:srgbClr val="310F53"/>
                </a:solidFill>
              </a:rPr>
              <a:t>ИНТЕГРАЦИЯ С ФСП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11155680" cy="712587"/>
          </a:xfrm>
        </p:spPr>
        <p:txBody>
          <a:bodyPr/>
          <a:lstStyle/>
          <a:p>
            <a:r>
              <a:rPr lang="ru-RU" b="1" sz="1500">
                <a:solidFill>
                  <a:srgbClr val="1C1D22"/>
                </a:solidFill>
              </a:rPr>
              <a:t>ФСП ID — Identity Provider в Keycloak: </a:t>
            </a:r>
            <a:r>
              <a:rPr lang="ru-RU" b="0" sz="1500">
                <a:solidFill>
                  <a:srgbClr val="1C1D22"/>
                </a:solidFill>
              </a:rPr>
              <a:t>привязка через вход в ФСП ID, чужой ID не привязать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11155680" cy="712587"/>
          </a:xfrm>
        </p:spPr>
        <p:txBody>
          <a:bodyPr/>
          <a:lstStyle/>
          <a:p>
            <a:r>
              <a:rPr lang="ru-RU" b="1" sz="1500">
                <a:solidFill>
                  <a:srgbClr val="1C1D22"/>
                </a:solidFill>
              </a:rPr>
              <a:t>Коннектор FspRegistry: </a:t>
            </a:r>
            <a:r>
              <a:rPr lang="ru-RU" b="0" sz="1500">
                <a:solidFill>
                  <a:srgbClr val="1C1D22"/>
                </a:solidFill>
              </a:rPr>
              <a:t>результаты (событие, уровень, место, дата) импортируются как подтверждённые достижения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11155680" cy="712587"/>
          </a:xfrm>
        </p:spPr>
        <p:txBody>
          <a:bodyPr/>
          <a:lstStyle/>
          <a:p>
            <a:r>
              <a:rPr lang="ru-RU" b="1" sz="1500">
                <a:solidFill>
                  <a:srgbClr val="1C1D22"/>
                </a:solidFill>
              </a:rPr>
              <a:t>Политика баллов: </a:t>
            </a:r>
            <a:r>
              <a:rPr lang="ru-RU" b="0" sz="1500">
                <a:solidFill>
                  <a:srgbClr val="1C1D22"/>
                </a:solidFill>
              </a:rPr>
              <a:t>уровень × исход с учётом давности; исправления и отзыв — через webhook реестра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11155680" cy="712587"/>
          </a:xfrm>
        </p:spPr>
        <p:txBody>
          <a:bodyPr/>
          <a:lstStyle/>
          <a:p>
            <a:r>
              <a:rPr lang="ru-RU" b="1" sz="1500">
                <a:solidFill>
                  <a:srgbClr val="1C1D22"/>
                </a:solidFill>
              </a:rPr>
              <a:t>Приватность: </a:t>
            </a:r>
            <a:r>
              <a:rPr lang="ru-RU" b="0" sz="1500">
                <a:solidFill>
                  <a:srgbClr val="1C1D22"/>
                </a:solidFill>
              </a:rPr>
              <a:t>кандидат решает, видны ли достижения; без истории ФСП — полный путь без штрафа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11155680" cy="712587"/>
          </a:xfrm>
        </p:spPr>
        <p:txBody>
          <a:bodyPr/>
          <a:lstStyle/>
          <a:p>
            <a:r>
              <a:rPr lang="ru-RU" b="1" sz="1500">
                <a:solidFill>
                  <a:srgbClr val="1C1D22"/>
                </a:solidFill>
              </a:rPr>
              <a:t>В прототипе: </a:t>
            </a:r>
            <a:r>
              <a:rPr lang="ru-RU" b="0" sz="1500">
                <a:solidFill>
                  <a:srgbClr val="1C1D22"/>
                </a:solidFill>
              </a:rPr>
              <a:t>синтетический реестр из 40 участников, владение подтверждается e-mail из Keycloak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r>
              <a:rPr lang="ru-RU" b="1" sz="1300">
                <a:solidFill>
                  <a:srgbClr val="310F53"/>
                </a:solidFill>
              </a:rPr>
              <a:t>Frontend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SvelteKit 2 + TypeScript, StyleX; два кабинета; вход через keycloak-js (PKCE).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r>
              <a:rPr lang="ru-RU" b="1" sz="1300">
                <a:solidFill>
                  <a:srgbClr val="310F53"/>
                </a:solidFill>
              </a:rPr>
              <a:t>Backend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Kotlin + Ktor 3: модули теста, подбора, ФСП, вакансий и заданий; OpenAPI, 96 автотестов.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r>
              <a:rPr lang="ru-RU" b="1" sz="1300">
                <a:solidFill>
                  <a:srgbClr val="310F53"/>
                </a:solidFill>
              </a:rPr>
              <a:t>Данные и доступ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PostgreSQL 16 + Flyway; Keycloak 26: подтверждение e-mail, роли, готовность к ФСП ID.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r>
              <a:rPr lang="ru-RU" b="1" sz="1300">
                <a:solidFill>
                  <a:srgbClr val="310F53"/>
                </a:solidFill>
              </a:rPr>
              <a:t>Инфраструктура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Docker Compose, Traefik + Let's Encrypt, CI/CD GitHub Actions → brokenbrain.online.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АРХИТЕКТУРА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2194560" cy="423628"/>
          </a:xfrm>
        </p:spPr>
        <p:txBody>
          <a:bodyPr/>
          <a:lstStyle/>
          <a:p>
            <a:r>
              <a:rPr lang="ru-RU" b="1" sz="2400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2194560" cy="403756"/>
          </a:xfrm>
        </p:spPr>
        <p:txBody>
          <a:bodyPr/>
          <a:lstStyle/>
          <a:p>
            <a:r>
              <a:rPr lang="ru-RU" b="1" sz="2400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2194560" cy="403913"/>
          </a:xfrm>
        </p:spPr>
        <p:txBody>
          <a:bodyPr/>
          <a:lstStyle/>
          <a:p>
            <a:r>
              <a:rPr lang="ru-RU" b="1" sz="2400">
                <a:solidFill>
                  <a:srgbClr val="FF0053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2194560" cy="423628"/>
          </a:xfrm>
        </p:spPr>
        <p:txBody>
          <a:bodyPr/>
          <a:lstStyle/>
          <a:p>
            <a:r>
              <a:rPr lang="ru-RU" b="1" sz="2400">
                <a:solidFill>
                  <a:srgbClr val="FF005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ru-RU" b="1" sz="1400">
                <a:solidFill>
                  <a:srgbClr val="1C1D22"/>
                </a:solidFill>
              </a:rPr>
              <a:t>Следующие 3–6 месяцев</a:t>
            </a:r>
          </a:p>
          <a:p>
            <a:pPr algn="l"/>
            <a:r>
              <a:rPr lang="ru-RU" sz="1400">
                <a:solidFill>
                  <a:srgbClr val="1C1D22"/>
                </a:solidFill>
              </a:rPr>
              <a:t>Пилот с участниками ФСП: калибровка заданий на реальных ответах и экспертный эталон грейдов.</a:t>
            </a:r>
          </a:p>
          <a:p>
            <a:pPr algn="l"/>
            <a:r>
              <a:rPr lang="ru-RU" sz="1400">
                <a:solidFill>
                  <a:srgbClr val="1C1D22"/>
                </a:solidFill>
              </a:rPr>
              <a:t>Затем — обучение весов подбора на решениях работодателей с сохранением объяснимости.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sz="1400">
                <a:solidFill>
                  <a:srgbClr val="1C1D22"/>
                </a:solidFill>
              </a:rPr>
              <a:t>ФСП ID и API реестра вместо синтетического коннектора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sz="1400">
                <a:solidFill>
                  <a:srgbClr val="1C1D22"/>
                </a:solidFill>
              </a:rPr>
              <a:t>Новые специализации: mobile, QA, DevOps, ML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sz="1400">
                <a:solidFill>
                  <a:srgbClr val="1C1D22"/>
                </a:solidFill>
              </a:rPr>
              <a:t>Верификация компаний и антифрод работодателей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sz="1400">
                <a:solidFill>
                  <a:srgbClr val="1C1D22"/>
                </a:solidFill>
              </a:rPr>
              <a:t>Интеграция с ATS: Huntflow, Potok, E-Staff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sz="1400">
                <a:solidFill>
                  <a:srgbClr val="1C1D22"/>
                </a:solidFill>
              </a:rPr>
              <a:t>Уведомления в Telegram и мобильная версия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ПЛАН РАЗВИТИЯ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r>
              <a:rPr lang="ru-RU">
                <a:solidFill>
                  <a:srgbClr val="310F53"/>
                </a:solidFill>
              </a:rPr>
              <a:t>ПОПРОБУЙТЕ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11155680" cy="712587"/>
          </a:xfrm>
        </p:spPr>
        <p:txBody>
          <a:bodyPr/>
          <a:lstStyle/>
          <a:p>
            <a:r>
              <a:rPr lang="ru-RU" b="1" sz="1400">
                <a:solidFill>
                  <a:srgbClr val="1C1D22"/>
                </a:solidFill>
              </a:rPr>
              <a:t>Платформа: </a:t>
            </a:r>
            <a:r>
              <a:rPr lang="ru-RU" b="0" sz="1400">
                <a:solidFill>
                  <a:srgbClr val="1C1D22"/>
                </a:solidFill>
              </a:rPr>
              <a:t>brokenbrain.online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11155680" cy="712587"/>
          </a:xfrm>
        </p:spPr>
        <p:txBody>
          <a:bodyPr/>
          <a:lstStyle/>
          <a:p>
            <a:r>
              <a:rPr lang="ru-RU" b="1" sz="1400">
                <a:solidFill>
                  <a:srgbClr val="1C1D22"/>
                </a:solidFill>
              </a:rPr>
              <a:t>Демо-логины (пароль fsp-demo-2026): </a:t>
            </a:r>
            <a:r>
              <a:rPr lang="ru-RU" b="0" sz="1400">
                <a:solidFill>
                  <a:srgbClr val="1C1D22"/>
                </a:solidFill>
              </a:rPr>
              <a:t>employer@ · maria.volkova@ · ivan.petrov@demo.fsp.local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11155680" cy="712587"/>
          </a:xfrm>
        </p:spPr>
        <p:txBody>
          <a:bodyPr/>
          <a:lstStyle/>
          <a:p>
            <a:r>
              <a:rPr lang="ru-RU" b="1" sz="1400">
                <a:solidFill>
                  <a:srgbClr val="1C1D22"/>
                </a:solidFill>
              </a:rPr>
              <a:t>Документация (PDF): </a:t>
            </a:r>
            <a:r>
              <a:rPr lang="ru-RU" b="0" sz="1400">
                <a:solidFill>
                  <a:srgbClr val="1C1D22"/>
                </a:solidFill>
              </a:rPr>
              <a:t>docs/FSP-Career-documentation.pdf в репозитории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11155680" cy="712587"/>
          </a:xfrm>
        </p:spPr>
        <p:txBody>
          <a:bodyPr/>
          <a:lstStyle/>
          <a:p>
            <a:r>
              <a:rPr lang="ru-RU" b="1" sz="1400">
                <a:solidFill>
                  <a:srgbClr val="1C1D22"/>
                </a:solidFill>
              </a:rPr>
              <a:t>Код (MIT): </a:t>
            </a:r>
            <a:r>
              <a:rPr lang="ru-RU" b="0" sz="1400">
                <a:solidFill>
                  <a:srgbClr val="1C1D22"/>
                </a:solidFill>
              </a:rPr>
              <a:t>github.com/06ED/fsp-career · OpenAPI: brokenbrain.online/openapi.yaml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11155680" cy="712587"/>
          </a:xfrm>
        </p:spPr>
        <p:txBody>
          <a:bodyPr/>
          <a:lstStyle/>
          <a:p>
            <a:r>
              <a:rPr lang="ru-RU" b="1" sz="1400">
                <a:solidFill>
                  <a:srgbClr val="1C1D22"/>
                </a:solidFill>
              </a:rPr>
              <a:t>Валидация: </a:t>
            </a:r>
            <a:r>
              <a:rPr lang="ru-RU" b="0" sz="1400">
                <a:solidFill>
                  <a:srgbClr val="1C1D22"/>
                </a:solidFill>
              </a:rPr>
              <a:t>docs/validation — отчёты и набор пар «вакансия – кандидат» для перепроверки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632</Words>
  <Application>Microsoft Macintosh PowerPoint</Application>
  <PresentationFormat>Широкоэкранный</PresentationFormat>
  <Paragraphs>187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Ирина</cp:lastModifiedBy>
  <cp:revision>97</cp:revision>
  <dcterms:created xsi:type="dcterms:W3CDTF">2023-05-15T07:36:23Z</dcterms:created>
  <dcterms:modified xsi:type="dcterms:W3CDTF">2026-10-02T08:27:06Z</dcterms:modified>
</cp:coreProperties>
</file>