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Представьте FSP Career: платформа связывает проверку навыков и поиск команды. В презентации показаны реализованные сценарии и техническая основа. Около 8–10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состоит не в количестве резюме, а в сопоставлении заявленного опыта и задач команды. Не приводите неподтверждённые рыночные цифры: здесь качественная постановка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Пройдите оба пути слева направо. Резюме описывает опыт, тест подтверждает категорию, работодатель задаёт потребность и отправляет предложение. Самооценка не присваивает грейд.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настоящий скриншот публичного лендинга, снятый без авторизованной сессии. Откройте демо либо скринкасты. Не выдавайте схемы следующих слайдов за скриншоты кабинетов.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профиль, импорт PDF и приватность. PDF создаёт проверяемый черновик: пользователь исправляет поля и подтверждает. Контактный email редактируется отдельно от логина. Скрытые разделы исключаются из выдачи и факторов.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заданий на 30 минут. CAT выбирает следующее семейство по информации и квотам тем. IRT/EAP оценивает уровень; итоговый балл — нормированный процентиль, а не доля верных ответов. Пересдачи ограничены 90 днями по специализации: после неудачи возможен уровень ниже, после уверенного успеха — выше, с проверкой истории. Новая неудача не понижает грейд.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базовые веса алгоритма, не результат конкретного кандидата. Неприменимые факторы удаляются, веса нормируются. Итог умножается на соответствие грейда. В банке порядок по силе профиля: 65 тест + 25 ФСП + 10 актуальность. Самоописание влияет на релевантность, но не присваивает категорию.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показывает правило доступа, а не данные реального пользователя. Работодатель видит категорию и разрешённые разделы до принятия, контакты после принятия — только своей компании. Самостоятельный отклик является отдельным основанием раскрытия этой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Вакансии имеют обязательную вилку RUB и статусы отклика. Pending-отклик можно отозвать. Задание назначается по специализации раз в неделю, кандидат присылает решение или подход. Ответ доступен автору компании без контактов, затем оценивается 1–5. Оценка задания не меняет грейд.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настоящий скриншот публичной страницы входа. Email подтверждается одноразовым письмом. ФСП ID и VK ID подключаются credentials сервера; explicit linking не объединяет аккаунты по email. Keycloak — локальный/демо OIDC провайдер. Реестр достижений сейчас синтетический. Внешние OAuth-токены остаются на сервере.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SvelteKit работает через Ktor API. Шесть контекстов разделены на domain, application, infrastructure и http; Ktor DI связывает порты с адаптерами. Общая БД сохраняет атомарность при записи результата и отзыве согласия. ArchitectureTest проверяет границы.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укрупнённая схема, не полный ERD. Accounts связан с identities и role-profile. assessment_items принадлежат attempt. Вакансии, отклики, задания и приглашения защищены FK и проверками владельца. Грейд профиля выводится из истории текущей специализации. Полная модель и миграции находятся в техническом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запускает web/API/manifest checks. Main публикует три образа и атомарно фиксирует digests. Flux применяет конфигурацию в namespace fsp-career. CI не хранит cluster credentials. Promotion в Git и реальный rollout — разные стадии, состояние проверяется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Расскажите про уровни проверок без выдуманных чисел покрытия. В CI PostgreSQL 18, есть HTTP tests регистрации, OAuth, оценки, matching, вакансий и задач. Архитектурные проверки защищают слои; deploy tests проверяют manifests и promotion. Без TEST_DATABASE_URL локальные DB integration tests пропускаются.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Чётко отделите реализованные механизмы от внешних подключений. Синтетический реестр ФСП и Mailpit являются текущими демо-адаптерами. Направления развития — реальные интеграции, внешняя почта, экспертная калибровка на реальных данных и наблюдаемость. Не заявляйте официальную верификацию соревнований или измеренные бизнес-метрики.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Завершите главным результатом: навыки подтверждаются, подбор объясняется, контакты раскрываются по явному действию. Откройте demo по QR или кликабельной ссылке. В PPTX также доступны ссылки на репозиторий, PDF и оба хранилища скринкастов.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okenbrain.online" TargetMode="External"/><Relationship Id="rId3" Type="http://schemas.openxmlformats.org/officeDocument/2006/relationships/notesSlide" Target="../notesSlides/notesSlide16.xml"/><Relationship Id="rId4" Type="http://schemas.openxmlformats.org/officeDocument/2006/relationships/hyperlink" Target="https://github.com/06ED/fsp-career" TargetMode="External"/><Relationship Id="rId5" Type="http://schemas.openxmlformats.org/officeDocument/2006/relationships/hyperlink" Target="https://github.com/06ED/fsp-career/blob/main/docs/FSP-Career-documentation.pdf" TargetMode="External"/><Relationship Id="rId6" Type="http://schemas.openxmlformats.org/officeDocument/2006/relationships/hyperlink" Target="https://disk.yandex.ru/d/8Kw-km6dKgXJEQ" TargetMode="External"/><Relationship Id="rId7" Type="http://schemas.openxmlformats.org/officeDocument/2006/relationships/hyperlink" Target="https://drive.google.com/drive/folders/1nd1SiafMHe-dXMK5UbNHw3jTvEp_fZPU?usp=sharing" TargetMode="External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D4E7"/>
                </a:solidFill>
                <a:latin typeface="Montserrat"/>
              </a:rPr>
              <a:t>ФСП / КАРЬЕРА · ПРЕЗЕНТАЦИЯ ПРОЕКТА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67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AC5E6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AC5E6"/>
                </a:solidFill>
                <a:latin typeface="Montserrat"/>
              </a:rPr>
              <a:t>01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07008"/>
            <a:ext cx="7315200" cy="10241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500" b="1">
                <a:solidFill>
                  <a:srgbClr val="FFFFFF"/>
                </a:solidFill>
                <a:latin typeface="Play"/>
              </a:rPr>
              <a:t>FSP Career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32304"/>
            <a:ext cx="74066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FD4E7"/>
                </a:solidFill>
                <a:latin typeface="Play"/>
              </a:rPr>
              <a:t>Навыки → возможности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704088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ontserrat"/>
              </a:rPr>
              <a:t>Оценка навыков и объяснимый подбор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ontserrat"/>
              </a:rPr>
              <a:t>специалистов под задачи команды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10328"/>
            <a:ext cx="2194560" cy="365760"/>
          </a:xfrm>
          <a:prstGeom prst="roundRect">
            <a:avLst>
              <a:gd name="adj" fmla="val 12000"/>
            </a:avLst>
          </a:prstGeom>
          <a:solidFill>
            <a:srgbClr val="674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4983480"/>
            <a:ext cx="201167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ontserrat"/>
              </a:rPr>
              <a:t>СПЕЦИАЛИСТ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5808" y="4910328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674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4983480"/>
            <a:ext cx="2331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ontserrat"/>
              </a:rPr>
              <a:t>РАБОТОДАТЕЛЬ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7616" y="1298448"/>
            <a:ext cx="3319272" cy="1234440"/>
          </a:xfrm>
          <a:prstGeom prst="roundRect">
            <a:avLst>
              <a:gd name="adj" fmla="val 12000"/>
            </a:avLst>
          </a:prstGeom>
          <a:solidFill>
            <a:srgbClr val="4E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63039"/>
            <a:ext cx="457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D4E7"/>
                </a:solidFill>
                <a:latin typeface="Montserrat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1444751"/>
            <a:ext cx="22128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lay"/>
              </a:rPr>
              <a:t>Профиль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4" y="2020824"/>
            <a:ext cx="2788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Опыт и видимость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6" y="2770632"/>
            <a:ext cx="3319272" cy="1234440"/>
          </a:xfrm>
          <a:prstGeom prst="roundRect">
            <a:avLst>
              <a:gd name="adj" fmla="val 12000"/>
            </a:avLst>
          </a:prstGeom>
          <a:solidFill>
            <a:srgbClr val="4E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935224"/>
            <a:ext cx="457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D4E7"/>
                </a:solidFill>
                <a:latin typeface="Montserrat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916936"/>
            <a:ext cx="22128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lay"/>
              </a:rPr>
              <a:t>Оценка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3493008"/>
            <a:ext cx="2788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Категория по тесту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6" y="4242816"/>
            <a:ext cx="3319272" cy="1234440"/>
          </a:xfrm>
          <a:prstGeom prst="roundRect">
            <a:avLst>
              <a:gd name="adj" fmla="val 12000"/>
            </a:avLst>
          </a:prstGeom>
          <a:solidFill>
            <a:srgbClr val="4E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407407"/>
            <a:ext cx="457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D4E7"/>
                </a:solidFill>
                <a:latin typeface="Montserra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4389120"/>
            <a:ext cx="22128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lay"/>
              </a:rPr>
              <a:t>Подбор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4965192"/>
            <a:ext cx="2788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Причины совпадения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Задача: связать навыки с потребностью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Три вопроса, на которые отвечает платформа.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3557016" cy="3218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СПЕЦИАЛИСТ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Как показать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уровень?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66744"/>
            <a:ext cx="3099816" cy="1408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Опыт и технологии 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резюме требуют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понятного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подтверждения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навыков.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057400"/>
            <a:ext cx="3557016" cy="3218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КОМПАНИЯ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88336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Кто подходит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задачам?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666744"/>
            <a:ext cx="3099816" cy="1408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Нужны категория,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релевантный опыт 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объяснение позиции 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подборке.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2057400"/>
            <a:ext cx="3557016" cy="3218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240280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ВЗАИМОДЕЙСТВИЕ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688336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Когда открывать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контакт?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666744"/>
            <a:ext cx="3099816" cy="1408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Условия предложения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и решение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специалиста должны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быть явными.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052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F0B78"/>
                </a:solidFill>
                <a:latin typeface="Play"/>
              </a:rPr>
              <a:t>Единый путь: описание опыта → проверка → сопоставление → предложение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Два кабинета — один сквозной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Категория = специализация + подтверждённый грейд.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3063240" cy="365760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ПУТЬ СПЕЦИАЛИСТА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06624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871216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Профиль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8416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Опыт и согласия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3977" y="3127248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2577" y="2706624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1449" y="2871216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Опрос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1449" y="3328416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Направление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3635" y="3127248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2235" y="2706624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1107" y="2871216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CAT-тест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1107" y="3328416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Проверка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навыков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292" y="3127248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1892" y="2706624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0764" y="2871216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Категория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0764" y="3328416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Грейд по тесту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2950" y="3127248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61550" y="2706624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0422" y="2871216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Предложения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0422" y="3328416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Решение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кандидата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79392"/>
            <a:ext cx="3520440" cy="365760"/>
          </a:xfrm>
          <a:prstGeom prst="roundRect">
            <a:avLst>
              <a:gd name="adj" fmla="val 12000"/>
            </a:avLst>
          </a:prstGeom>
          <a:solidFill>
            <a:srgbClr val="FFD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352544"/>
            <a:ext cx="33375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ПУТЬ РАБОТОДАТЕЛЯ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2803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99262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Компания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44982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Контакты и задачи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3977" y="524865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92577" y="482803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1449" y="499262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Потребность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11449" y="544982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Грейд и стек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3635" y="524865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82235" y="482803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1107" y="499262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Подбор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01107" y="544982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Рейтинг 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факторы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3292" y="524865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71892" y="482803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0764" y="499262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Приглашение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0764" y="544982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Условия и вилка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2950" y="524865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61550" y="482803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0422" y="499262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Контакт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0422" y="544982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После принятия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Работающее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Публичная демонстрация: brokenbrain.online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29968"/>
            <a:ext cx="7845552" cy="4224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16" y="2157984"/>
            <a:ext cx="7071359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2" y="2029968"/>
            <a:ext cx="3108960" cy="422452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2212848"/>
            <a:ext cx="2651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ВЕБ-ПЛАТФОРМА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2660904"/>
            <a:ext cx="2651760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F0B78"/>
                </a:solidFill>
                <a:latin typeface="Play"/>
              </a:rPr>
              <a:t>От первого входа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F0B78"/>
                </a:solidFill>
                <a:latin typeface="Play"/>
              </a:rPr>
              <a:t>до предложения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3639312"/>
            <a:ext cx="2651760" cy="2414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Две роли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Профиль и оценка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Подбор 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приглашения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Вакансии и задания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Специалист управляет своим профилем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Опыт, документы и видимость — в одном кабинете.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ПРОФИЛЬ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15768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Опыт и технологии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94176"/>
            <a:ext cx="3099816" cy="1618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Специализация 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отрасль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История работы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Стек и желаемые роли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084831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PDF-РЕЗЮМЕ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15768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Проверяемый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импорт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694176"/>
            <a:ext cx="3099816" cy="1618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PDF → черновик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Редактирование 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подтверждение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Экспорт из профиля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2084831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267712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ПРИВАТНОСТЬ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715768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Явное управление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694176"/>
            <a:ext cx="3099816" cy="1618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Обработка данных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Публикация профиля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Видимость разделов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9864"/>
            <a:ext cx="109728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F0B78"/>
                </a:solidFill>
                <a:latin typeface="Play"/>
              </a:rPr>
              <a:t>Самооценка в профиле и подтверждённая категория хранятся отдельно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АЛГОРИТМЫ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Адаптивная оценка навыков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Движок cat-v1: последовательные задания и единая шкала результата.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3557016" cy="1472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12848"/>
            <a:ext cx="1463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4F0B78"/>
                </a:solidFill>
                <a:latin typeface="Play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09981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76C83"/>
                </a:solidFill>
                <a:latin typeface="Montserrat"/>
              </a:rPr>
              <a:t>заданий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039112"/>
            <a:ext cx="3557016" cy="1472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212848"/>
            <a:ext cx="1463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4F0B78"/>
                </a:solidFill>
                <a:latin typeface="Play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017520"/>
            <a:ext cx="309981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76C83"/>
                </a:solidFill>
                <a:latin typeface="Montserrat"/>
              </a:rPr>
              <a:t>минут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2039112"/>
            <a:ext cx="3557016" cy="1472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2212848"/>
            <a:ext cx="146304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4F0B78"/>
                </a:solidFill>
                <a:latin typeface="Play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017520"/>
            <a:ext cx="309981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776C83"/>
                </a:solidFill>
                <a:latin typeface="Montserrat"/>
              </a:rPr>
              <a:t>специализаций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76472"/>
            <a:ext cx="6675120" cy="2304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14215"/>
            <a:ext cx="60350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0B78"/>
                </a:solidFill>
                <a:latin typeface="Play"/>
              </a:rPr>
              <a:t>CAT / IRT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681728"/>
            <a:ext cx="6117336" cy="12070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Опрос задаёт направление и грейд.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CAT подбирает задания по ответам.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IRT/EAP рассчитывает итоговый уровень.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3216" y="3776472"/>
            <a:ext cx="4242816" cy="230428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4041648"/>
            <a:ext cx="3730752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F0B78"/>
                </a:solidFill>
                <a:latin typeface="Play"/>
              </a:rPr>
              <a:t>Junior · Middle · Senior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4727448"/>
            <a:ext cx="3730752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Успех подтверждает грейд.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Подтверждение сохраняется.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232B"/>
                </a:solidFill>
                <a:latin typeface="Montserrat"/>
              </a:rPr>
              <a:t>Пересдачи: 90 дней + условия.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АЛГОРИТМЫ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Подбор с объяснением каждого фактора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Сначала категория, затем соответствие потребности команды.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29968"/>
            <a:ext cx="6720840" cy="4096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56032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232B"/>
                </a:solidFill>
                <a:latin typeface="Montserrat"/>
              </a:rPr>
              <a:t>Тест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395727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2395727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4F0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331720"/>
            <a:ext cx="4937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0B78"/>
                </a:solidFill>
                <a:latin typeface="Montserrat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1"/>
            <a:ext cx="256032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232B"/>
                </a:solidFill>
                <a:latin typeface="Montserrat"/>
              </a:rPr>
              <a:t>Текст опыта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971799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3008" y="2971799"/>
            <a:ext cx="2286000" cy="201168"/>
          </a:xfrm>
          <a:prstGeom prst="roundRect">
            <a:avLst>
              <a:gd name="adj" fmla="val 12000"/>
            </a:avLst>
          </a:prstGeom>
          <a:solidFill>
            <a:srgbClr val="4F0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907791"/>
            <a:ext cx="4937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0B78"/>
                </a:solidFill>
                <a:latin typeface="Montserrat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83863"/>
            <a:ext cx="256032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232B"/>
                </a:solidFill>
                <a:latin typeface="Montserrat"/>
              </a:rPr>
              <a:t>Стек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3547871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93008" y="3547871"/>
            <a:ext cx="1828800" cy="201168"/>
          </a:xfrm>
          <a:prstGeom prst="roundRect">
            <a:avLst>
              <a:gd name="adj" fmla="val 12000"/>
            </a:avLst>
          </a:prstGeom>
          <a:solidFill>
            <a:srgbClr val="4F0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83863"/>
            <a:ext cx="4937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0B78"/>
                </a:solidFill>
                <a:latin typeface="Montserrat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59935"/>
            <a:ext cx="256032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232B"/>
                </a:solidFill>
                <a:latin typeface="Montserrat"/>
              </a:rPr>
              <a:t>Достижения ФСП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4123944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93008" y="4123944"/>
            <a:ext cx="1371600" cy="201168"/>
          </a:xfrm>
          <a:prstGeom prst="roundRect">
            <a:avLst>
              <a:gd name="adj" fmla="val 12000"/>
            </a:avLst>
          </a:prstGeom>
          <a:solidFill>
            <a:srgbClr val="4F0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059935"/>
            <a:ext cx="4937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0B78"/>
                </a:solidFill>
                <a:latin typeface="Montserrat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36008"/>
            <a:ext cx="256032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232B"/>
                </a:solidFill>
                <a:latin typeface="Montserrat"/>
              </a:rPr>
              <a:t>Отрасль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4700016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93008" y="4700016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4F0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636008"/>
            <a:ext cx="4937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0B78"/>
                </a:solidFill>
                <a:latin typeface="Montserra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12079"/>
            <a:ext cx="256032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232B"/>
                </a:solidFill>
                <a:latin typeface="Montserrat"/>
              </a:rPr>
              <a:t>Актуальность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5276088"/>
            <a:ext cx="2743200" cy="201168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93008" y="5276088"/>
            <a:ext cx="457200" cy="201168"/>
          </a:xfrm>
          <a:prstGeom prst="roundRect">
            <a:avLst>
              <a:gd name="adj" fmla="val 12000"/>
            </a:avLst>
          </a:prstGeom>
          <a:solidFill>
            <a:srgbClr val="4F0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5212079"/>
            <a:ext cx="493776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F0B78"/>
                </a:solidFill>
                <a:latin typeface="Montserrat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2029968"/>
            <a:ext cx="4187952" cy="4096512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2340864"/>
            <a:ext cx="36576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Коэффициент грейда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273552"/>
            <a:ext cx="3657600" cy="19019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Точный уровень × 1,00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Выше на ступень × 0,85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Выше на две × 0,70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5232B"/>
                </a:solidFill>
                <a:latin typeface="Montserrat"/>
              </a:rPr>
              <a:t>Ниже, по запросу × 0,60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376672"/>
            <a:ext cx="3657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776C83"/>
                </a:solidFill>
                <a:latin typeface="Montserrat"/>
              </a:rPr>
              <a:t>В выдаче: рейтинг, объяснение,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776C83"/>
                </a:solidFill>
                <a:latin typeface="Montserrat"/>
              </a:rPr>
              <a:t>факторы и карточка кандидата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Контакты открываются по действию специалиста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В сценарии приглашений доступ появляется после принятия предложения.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08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157216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460857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ПРИГЛАШЕНИЕ ОТПРАВЛЕНО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9504"/>
            <a:ext cx="4608576" cy="612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Подтверждённая категория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4608576" cy="116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776C83"/>
                </a:solidFill>
                <a:latin typeface="Montserrat"/>
              </a:rPr>
              <a:t>Email: скрыт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776C83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776C83"/>
                </a:solidFill>
                <a:latin typeface="Montserrat"/>
              </a:rPr>
              <a:t>Телефон: скрыт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816" y="2103120"/>
            <a:ext cx="5157216" cy="3273552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2359152"/>
            <a:ext cx="460857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КАНДИДАТ ПРИНЯЛ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889504"/>
            <a:ext cx="4608576" cy="612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Подтверждённая категория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3822191"/>
            <a:ext cx="4608576" cy="1161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87A67"/>
                </a:solidFill>
                <a:latin typeface="Montserrat"/>
              </a:rPr>
              <a:t>Email: contact@example.org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87A67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87A67"/>
                </a:solidFill>
                <a:latin typeface="Montserrat"/>
              </a:rPr>
              <a:t>Телефон: доступен компании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3364992"/>
            <a:ext cx="667512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5650992"/>
            <a:ext cx="10972800" cy="6035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F0B78"/>
                </a:solidFill>
                <a:latin typeface="Play"/>
              </a:rPr>
              <a:t>Скрытые разделы исключаются из рейтинга. Самоотклик раскрывает контакт автору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F0B78"/>
                </a:solidFill>
                <a:latin typeface="Play"/>
              </a:rPr>
              <a:t>вакансии.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Вакансии и короткие задания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Дополнительные пути взаимодействия внутри той же платформы.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09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5458968" cy="4105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21992"/>
            <a:ext cx="5001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КЛАССИЧЕСКИЙ НАЙМ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5001768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Вакансия → отклик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48456"/>
            <a:ext cx="5001768" cy="2295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Компания публикует условия 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вилку.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Специалист отправляет письмо.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Статусы: отправлен → просмотрен 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принят / отказ.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039112"/>
            <a:ext cx="5458968" cy="4105656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221992"/>
            <a:ext cx="5001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РЕГУЛЯРНАЯ АКТИВНОСТЬ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70048"/>
            <a:ext cx="5001768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Задание → обратная связь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648456"/>
            <a:ext cx="5001768" cy="22951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Одна назначенная задача на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неделю.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Решение или подход к решению.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Оценка 1–5 и комментарий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компании.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ИНТЕГРАЦИИ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Вход и интеграции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Локальная регистрация и серверный OAuth/OIDC с PKCE.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56816"/>
            <a:ext cx="4206240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523" y="2011680"/>
            <a:ext cx="2991033" cy="41970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65192" y="1993392"/>
            <a:ext cx="6720840" cy="9235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112264"/>
            <a:ext cx="6227064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Email / пароль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51176"/>
            <a:ext cx="6227064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6C83"/>
                </a:solidFill>
                <a:latin typeface="Montserrat"/>
              </a:rPr>
              <a:t>Подтверждение почты и серверная сессия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5192" y="3054096"/>
            <a:ext cx="6720840" cy="92354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172968"/>
            <a:ext cx="6227064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ФСП ID / VK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611879"/>
            <a:ext cx="6227064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6C83"/>
                </a:solidFill>
                <a:latin typeface="Montserrat"/>
              </a:rPr>
              <a:t>Authorization Code + PKCE; явная привязка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5192" y="4114800"/>
            <a:ext cx="6720840" cy="9235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4233672"/>
            <a:ext cx="6227064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Реестр ФСП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672584"/>
            <a:ext cx="6227064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6C83"/>
                </a:solidFill>
                <a:latin typeface="Montserrat"/>
              </a:rPr>
              <a:t>Отдельный импорт демонстрационных достижений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5192" y="5175504"/>
            <a:ext cx="6720840" cy="92354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294376"/>
            <a:ext cx="6227064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PDF / SMTP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733288"/>
            <a:ext cx="6227064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6C83"/>
                </a:solidFill>
                <a:latin typeface="Montserrat"/>
              </a:rPr>
              <a:t>Импорт резюме и письма подтверждения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Архитектура: модульный монолит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Разделённые доменные контексты и общая транзакционная PostgreSQL.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11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35509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03704"/>
            <a:ext cx="3313175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SvelteKit / Bun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60904"/>
            <a:ext cx="3313175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UI и API-клиент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0416" y="245973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9015" y="2039112"/>
            <a:ext cx="35509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7887" y="2203704"/>
            <a:ext cx="3313175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Kotlin / Ktor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7887" y="2660904"/>
            <a:ext cx="3313175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6C83"/>
                </a:solidFill>
                <a:latin typeface="Montserrat"/>
              </a:rPr>
              <a:t>Use cases и доменные политики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6511" y="245973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1" y="2039112"/>
            <a:ext cx="35509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3983" y="2203704"/>
            <a:ext cx="3313175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3983" y="2660904"/>
            <a:ext cx="3313175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Exposed · HikariCP · Flyway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3557016" cy="96926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822191"/>
            <a:ext cx="315468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0B78"/>
                </a:solidFill>
                <a:latin typeface="Play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297680"/>
            <a:ext cx="315468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Сессии и OAuth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03320"/>
            <a:ext cx="3557016" cy="96926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822191"/>
            <a:ext cx="315468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0B78"/>
                </a:solidFill>
                <a:latin typeface="Play"/>
              </a:rPr>
              <a:t>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297680"/>
            <a:ext cx="315468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Профили и согласия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3703320"/>
            <a:ext cx="3557016" cy="96926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822191"/>
            <a:ext cx="315468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0B78"/>
                </a:solidFill>
                <a:latin typeface="Play"/>
              </a:rPr>
              <a:t>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4297680"/>
            <a:ext cx="315468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CAT / IRT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01183"/>
            <a:ext cx="3557016" cy="96926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020055"/>
            <a:ext cx="315468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0B78"/>
                </a:solidFill>
                <a:latin typeface="Play"/>
              </a:rPr>
              <a:t>matching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5495544"/>
            <a:ext cx="315468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Рейтинг и объяснения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4901183"/>
            <a:ext cx="3557016" cy="96926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7136" y="5020055"/>
            <a:ext cx="315468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0B78"/>
                </a:solidFill>
                <a:latin typeface="Play"/>
              </a:rPr>
              <a:t>recruitment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5495544"/>
            <a:ext cx="315468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Предложения и задачи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9016" y="4901183"/>
            <a:ext cx="3557016" cy="969264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4" y="5020055"/>
            <a:ext cx="3154680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F0B78"/>
                </a:solidFill>
                <a:latin typeface="Play"/>
              </a:rPr>
              <a:t>achievements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5495544"/>
            <a:ext cx="3154680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Реестр ФСП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Данные и бизнес-инварианты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Результаты оценки связаны с профилем; взаимодействия — с обеими сторонами.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38679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03704"/>
            <a:ext cx="350215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accounts + identities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24912"/>
            <a:ext cx="350215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Роль и способы входа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10712"/>
            <a:ext cx="38679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57016"/>
            <a:ext cx="350215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candidate_profiles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78224"/>
            <a:ext cx="350215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Опыт, контакты, согласия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64024"/>
            <a:ext cx="38679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10328"/>
            <a:ext cx="350215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assessment_attempts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50215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Результаты +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90872" y="2057400"/>
            <a:ext cx="38679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203704"/>
            <a:ext cx="350215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employer_companies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724912"/>
            <a:ext cx="350215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Компания и потребность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0872" y="3410712"/>
            <a:ext cx="38679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557016"/>
            <a:ext cx="350215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invitations /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4078224"/>
            <a:ext cx="350215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Связь с кандидатом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0872" y="4764024"/>
            <a:ext cx="3867912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4910328"/>
            <a:ext cx="350215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F0B78"/>
                </a:solidFill>
                <a:latin typeface="Play"/>
              </a:rPr>
              <a:t>vacancies / short_tasks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5431536"/>
            <a:ext cx="3502152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Предложения и задания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32304" y="3081528"/>
            <a:ext cx="0" cy="329184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32304" y="4434840"/>
            <a:ext cx="0" cy="329184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70832" y="2569464"/>
            <a:ext cx="320040" cy="0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70832" y="3922776"/>
            <a:ext cx="320040" cy="0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58784" y="2569464"/>
            <a:ext cx="128016" cy="0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86800" y="2569464"/>
            <a:ext cx="0" cy="2706624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558784" y="3922776"/>
            <a:ext cx="128016" cy="0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558784" y="5276088"/>
            <a:ext cx="128016" cy="0"/>
          </a:xfrm>
          <a:prstGeom prst="line">
            <a:avLst/>
          </a:prstGeom>
          <a:ln w="25400">
            <a:solidFill>
              <a:srgbClr val="4F0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823960" y="2057400"/>
            <a:ext cx="2862072" cy="4014215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2331720"/>
            <a:ext cx="2441448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F0B78"/>
                </a:solidFill>
                <a:latin typeface="Play"/>
              </a:rPr>
              <a:t>Контроль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F0B78"/>
                </a:solidFill>
                <a:latin typeface="Play"/>
              </a:rPr>
              <a:t>состояния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419856"/>
            <a:ext cx="2441448" cy="228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Одна открытая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попытка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Отклик без дублей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Задание на неделю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Роль и владение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Доставка: от коммита до работающего релиза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GitHub Actions → GHCR → GitOps → Flux.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3230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88950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Коммит проекта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3977" y="268833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2577" y="226771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243230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288950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Web + API 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manifests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3635" y="268833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2235" y="226771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1107" y="243230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GHCR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1107" y="288950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776C83"/>
                </a:solidFill>
                <a:latin typeface="Montserrat"/>
              </a:rPr>
              <a:t>Образы с digest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292" y="268833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1892" y="226771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0764" y="243230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GitOps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0764" y="288950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6C83"/>
                </a:solidFill>
                <a:latin typeface="Montserrat"/>
              </a:rPr>
              <a:t>Promotion-коммит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2950" y="2688336"/>
            <a:ext cx="21031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F0B78"/>
                </a:solidFill>
                <a:latin typeface="Montserrat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1550" y="2267712"/>
            <a:ext cx="2024481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0422" y="2432304"/>
            <a:ext cx="1786737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F0B78"/>
                </a:solidFill>
                <a:latin typeface="Play"/>
              </a:rPr>
              <a:t>Flux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0422" y="2889504"/>
            <a:ext cx="1786737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776C83"/>
                </a:solidFill>
                <a:latin typeface="Montserrat"/>
              </a:rPr>
              <a:t>Kubernetes rollout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77056"/>
            <a:ext cx="5458968" cy="2313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59936"/>
            <a:ext cx="5001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ЛОКАЛЬНО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07992"/>
            <a:ext cx="5001768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Docker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001768" cy="502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Web, API, базы, Keycloak и Mailpit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7064" y="3877056"/>
            <a:ext cx="5458968" cy="2313432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059936"/>
            <a:ext cx="5001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РАБОЧЕЕ ОКРУЖЕНИЕ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4507992"/>
            <a:ext cx="5001768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K3s / Envoy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5486400"/>
            <a:ext cx="5001768" cy="5029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HTTPS, namespace fsp-career и Flux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Проверки встроены в процесс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Доменные правила, HTTP-сценарии и доставка проверяются отдельно.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Типы и интерфейс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66744"/>
            <a:ext cx="3099816" cy="1618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Svelte / TypeScript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Bun regression tests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5232B"/>
                </a:solidFill>
                <a:latin typeface="Montserrat"/>
              </a:rPr>
              <a:t>ESLint и production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05740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88336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Правила и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666744"/>
            <a:ext cx="3099816" cy="1618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Unit и ArchitectureTest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HTTP + PostgreSQL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OAuth с MockEngine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2057400"/>
            <a:ext cx="3557016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240280"/>
            <a:ext cx="309981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GITOPS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688336"/>
            <a:ext cx="3099816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Релиз и manifests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666744"/>
            <a:ext cx="3099816" cy="1618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Тесты promotion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Kustomize validation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Flux health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F0B78"/>
                </a:solidFill>
                <a:latin typeface="Play"/>
              </a:rPr>
              <a:t>Примеры регрессий: CSRF · пересдачи · приватность · контакты · статусы откликов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76C83"/>
                </a:solidFill>
                <a:latin typeface="Montserrat"/>
              </a:rPr>
              <a:t>ФСП / КАРЬЕРА ·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F0B78"/>
                </a:solidFill>
                <a:latin typeface="Play"/>
              </a:rPr>
              <a:t>Текущая версия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335024"/>
            <a:ext cx="11064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776C83"/>
                </a:solidFill>
                <a:latin typeface="Montserrat"/>
              </a:rPr>
              <a:t>Работающий прототип со сквозными пользовательскими сценариями.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E6DD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6C83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76C83"/>
                </a:solidFill>
                <a:latin typeface="Montserrat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5458968" cy="4096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001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РЕАЛИЗОВАНО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5001768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Полный путь взаимодействия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66744"/>
            <a:ext cx="5001768" cy="228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Профиль, оценка и категория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Подбор, приглашение и контакт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Вакансии, отклики и задания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Демо, CI/CD и документация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057400"/>
            <a:ext cx="5458968" cy="4096512"/>
          </a:xfrm>
          <a:prstGeom prst="roundRect">
            <a:avLst>
              <a:gd name="adj" fmla="val 12000"/>
            </a:avLst>
          </a:prstGeom>
          <a:solidFill>
            <a:srgbClr val="E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240280"/>
            <a:ext cx="5001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0B78"/>
                </a:solidFill>
                <a:latin typeface="Montserrat"/>
              </a:rPr>
              <a:t>СЛЕДУЮЩИЕ ШАГИ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5001768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F0B78"/>
                </a:solidFill>
                <a:latin typeface="Play"/>
              </a:rPr>
              <a:t>Расширение интеграций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666744"/>
            <a:ext cx="5001768" cy="228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Реальный реестр ФСП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Внешний SMTP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Экспертная калибровка оценки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232B"/>
                </a:solidFill>
                <a:latin typeface="Montserrat"/>
              </a:rPr>
              <a:t>Наблюдаемость и эксплуатация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0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424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D4E7"/>
                </a:solidFill>
                <a:latin typeface="Montserrat"/>
              </a:rPr>
              <a:t>ФСП / КАРЬЕРА · ДЕМОНСТРАЦИЯ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8890">
            <a:solidFill>
              <a:srgbClr val="67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hlinkClick r:id="rId2"/>
          </p:cNvPr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AC5E6"/>
                </a:solidFill>
                <a:latin typeface="Montserrat"/>
              </a:rPr>
              <a:t>FSP Career · brokenbrain.online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9672"/>
            <a:ext cx="107899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AC5E6"/>
                </a:solidFill>
                <a:latin typeface="Montserrat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7680960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>
                <a:solidFill>
                  <a:srgbClr val="FFFFFF"/>
                </a:solidFill>
                <a:latin typeface="Play"/>
              </a:rPr>
              <a:t>Посмотрите полный сценарий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23744"/>
            <a:ext cx="740664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D4E7"/>
                </a:solidFill>
                <a:latin typeface="Play"/>
              </a:rPr>
              <a:t>Навыки подтверждаются.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D4E7"/>
                </a:solidFill>
                <a:latin typeface="Play"/>
              </a:rPr>
              <a:t>Подбор объясняется.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FD4E7"/>
                </a:solidFill>
                <a:latin typeface="Play"/>
              </a:rPr>
              <a:t>Контакт открывается по решению.</a:t>
            </a:r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658368" y="4480560"/>
            <a:ext cx="73152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Открыть демо</a:t>
            </a:r>
          </a:p>
        </p:txBody>
      </p:sp>
      <p:sp>
        <p:nvSpPr>
          <p:cNvPr id="9" name="TextBox 8">
            <a:hlinkClick r:id="rId4"/>
          </p:cNvPr>
          <p:cNvSpPr txBox="1"/>
          <p:nvPr/>
        </p:nvSpPr>
        <p:spPr>
          <a:xfrm>
            <a:off x="658368" y="4837176"/>
            <a:ext cx="73152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Репозиторий проекта</a:t>
            </a:r>
          </a:p>
        </p:txBody>
      </p:sp>
      <p:sp>
        <p:nvSpPr>
          <p:cNvPr id="10" name="TextBox 9">
            <a:hlinkClick r:id="rId5"/>
          </p:cNvPr>
          <p:cNvSpPr txBox="1"/>
          <p:nvPr/>
        </p:nvSpPr>
        <p:spPr>
          <a:xfrm>
            <a:off x="658368" y="5193792"/>
            <a:ext cx="73152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Техническая документация PDF</a:t>
            </a:r>
          </a:p>
        </p:txBody>
      </p:sp>
      <p:sp>
        <p:nvSpPr>
          <p:cNvPr id="11" name="TextBox 10">
            <a:hlinkClick r:id="rId6"/>
          </p:cNvPr>
          <p:cNvSpPr txBox="1"/>
          <p:nvPr/>
        </p:nvSpPr>
        <p:spPr>
          <a:xfrm>
            <a:off x="658368" y="5550408"/>
            <a:ext cx="3749039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ontserrat"/>
              </a:rPr>
              <a:t>Скринкасты: Яндекс Диск</a:t>
            </a:r>
          </a:p>
        </p:txBody>
      </p:sp>
      <p:sp>
        <p:nvSpPr>
          <p:cNvPr id="12" name="TextBox 11">
            <a:hlinkClick r:id="rId7"/>
          </p:cNvPr>
          <p:cNvSpPr txBox="1"/>
          <p:nvPr/>
        </p:nvSpPr>
        <p:spPr>
          <a:xfrm>
            <a:off x="4754880" y="5550408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FFD4E7"/>
                </a:solidFill>
                <a:latin typeface="Montserrat"/>
              </a:rPr>
              <a:t>Google Диск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1352" y="2157984"/>
            <a:ext cx="2907792" cy="2907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>
            <a:hlinkClick r:id="rId2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4232" y="2340864"/>
            <a:ext cx="2542032" cy="2542032"/>
          </a:xfrm>
          <a:prstGeom prst="rect">
            <a:avLst/>
          </a:prstGeom>
        </p:spPr>
      </p:pic>
      <p:sp>
        <p:nvSpPr>
          <p:cNvPr id="15" name="TextBox 14">
            <a:hlinkClick r:id="rId2"/>
          </p:cNvPr>
          <p:cNvSpPr txBox="1"/>
          <p:nvPr/>
        </p:nvSpPr>
        <p:spPr>
          <a:xfrm>
            <a:off x="8348472" y="5340096"/>
            <a:ext cx="326440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ontserrat"/>
              </a:rPr>
              <a:t>brokenbrain.online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FSP Career — презентация проекта</dc:title>
  <dc:subject>Оценка навыков и объяснимый подбор специалистов</dc:subject>
  <dc:creator>FSP Career</dc:creator>
  <cp:keywords>FSP Career, CAT, IRT, Ktor, SvelteKit, GitOps</cp:keywords>
  <dc:description>Редактируемые объекты; исходник в docs/presentation/build.py.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